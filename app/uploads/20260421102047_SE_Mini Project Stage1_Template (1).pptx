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59" r:id="rId4"/>
    <p:sldId id="273" r:id="rId5"/>
    <p:sldId id="276" r:id="rId6"/>
    <p:sldId id="274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jXFb0urBou6gR2tJg6S6kulQwg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3447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5442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681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b34e739c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b34e739c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3886200"/>
            <a:ext cx="9114181" cy="29618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819" y="6425925"/>
            <a:ext cx="2133600" cy="365125"/>
          </a:xfrm>
        </p:spPr>
        <p:txBody>
          <a:bodyPr/>
          <a:lstStyle>
            <a:lvl1pPr>
              <a:defRPr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03E93B1-B797-4EF5-8B4C-55B0A979ACDD}" type="datetime4">
              <a:rPr lang="en-US" smtClean="0"/>
              <a:pPr/>
              <a:t>April 2,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78768" y="6406047"/>
            <a:ext cx="5135216" cy="422136"/>
          </a:xfrm>
        </p:spPr>
        <p:txBody>
          <a:bodyPr/>
          <a:lstStyle>
            <a:lvl1pPr>
              <a:defRPr sz="1200" b="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(“Project Title”)</a:t>
            </a:r>
            <a:endParaRPr lang="en-IN" dirty="0"/>
          </a:p>
        </p:txBody>
      </p:sp>
      <p:pic>
        <p:nvPicPr>
          <p:cNvPr id="9" name="Google Shape;86;p1">
            <a:extLst>
              <a:ext uri="{FF2B5EF4-FFF2-40B4-BE49-F238E27FC236}">
                <a16:creationId xmlns:a16="http://schemas.microsoft.com/office/drawing/2014/main" id="{580E3F5B-B97E-4F86-8BCD-AC87D025BD0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000"/>
                    </a14:imgEffect>
                  </a14:imgLayer>
                </a14:imgProps>
              </a:ext>
            </a:extLst>
          </a:blip>
          <a:srcRect l="15227" r="15963"/>
          <a:stretch/>
        </p:blipFill>
        <p:spPr>
          <a:xfrm>
            <a:off x="24848" y="9939"/>
            <a:ext cx="1197666" cy="12324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121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9927-3857-4E13-9A3E-58F3557D5F32}" type="datetime4">
              <a:rPr lang="en-US" smtClean="0"/>
              <a:t>April 2,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8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F0C7-8874-4615-8C98-043BC5107310}" type="datetime4">
              <a:rPr lang="en-US" smtClean="0"/>
              <a:t>April 2,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0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051-F34C-4F4B-8A0B-6A775FA53512}" type="datetime4">
              <a:rPr lang="en-US" smtClean="0"/>
              <a:t>April 2,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3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6368-87EA-4716-99EE-1F04D155E808}" type="datetime4">
              <a:rPr lang="en-US" smtClean="0"/>
              <a:t>April 2,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68AE-9F05-4CBD-B3FA-F8DEC959E9E7}" type="datetime4">
              <a:rPr lang="en-US" smtClean="0"/>
              <a:t>April 2,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E0AA-8C9F-42DD-81D0-B54432AE4F7C}" type="datetime4">
              <a:rPr lang="en-US" smtClean="0"/>
              <a:t>April 2,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8F2C-ED10-44EB-B087-765FA362958C}" type="datetime4">
              <a:rPr lang="en-US" smtClean="0"/>
              <a:t>April 2,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0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030E3-A439-4C95-A385-7C9C6E9AA533}" type="datetime4">
              <a:rPr lang="en-US" smtClean="0"/>
              <a:t>April 2,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9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770B-5400-4768-A62E-362DF774C2F0}" type="datetime4">
              <a:rPr lang="en-US" smtClean="0"/>
              <a:t>April 2,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5190A-6E55-499A-B864-121E9C685E7C}" type="datetime4">
              <a:rPr lang="en-US" smtClean="0"/>
              <a:t>April 2,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(“Project Title”)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4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D766B-A0A6-4700-B6D7-326EA7B167C1}" type="datetime4">
              <a:rPr lang="en-US" smtClean="0"/>
              <a:t>April 2,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(“Project Title”)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4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61737" y="5562600"/>
            <a:ext cx="8412149" cy="86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Guided by: </a:t>
            </a:r>
          </a:p>
          <a:p>
            <a:pPr algn="ctr"/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Dr./Prof. Geetanjli Kale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chemeClr val="dk1"/>
              </a:buClr>
              <a:buSzPts val="2400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 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298126" y="160652"/>
            <a:ext cx="7739744" cy="1371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55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Department of Artificial Intelligence &amp; Data Science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55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New Horizon Institute of Technology and Management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55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University of Mumbai</a:t>
            </a:r>
          </a:p>
          <a:p>
            <a:pPr algn="ctr">
              <a:buClr>
                <a:schemeClr val="dk1"/>
              </a:buClr>
              <a:buSzPts val="2800"/>
            </a:pPr>
            <a:endParaRPr lang="en-US" sz="2550" b="1" dirty="0">
              <a:solidFill>
                <a:schemeClr val="dk1"/>
              </a:solidFill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>
              <a:buClr>
                <a:schemeClr val="dk1"/>
              </a:buClr>
              <a:buSzPts val="1800"/>
            </a:pPr>
            <a:endParaRPr sz="2550" b="1" dirty="0">
              <a:solidFill>
                <a:schemeClr val="dk1"/>
              </a:solidFill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</p:txBody>
      </p:sp>
      <p:sp>
        <p:nvSpPr>
          <p:cNvPr id="9" name="Google Shape;88;p1">
            <a:extLst>
              <a:ext uri="{FF2B5EF4-FFF2-40B4-BE49-F238E27FC236}">
                <a16:creationId xmlns:a16="http://schemas.microsoft.com/office/drawing/2014/main" id="{E077071B-FF6E-41E1-A9C7-CD56B687CCBA}"/>
              </a:ext>
            </a:extLst>
          </p:cNvPr>
          <p:cNvSpPr txBox="1"/>
          <p:nvPr/>
        </p:nvSpPr>
        <p:spPr>
          <a:xfrm>
            <a:off x="30236" y="1778823"/>
            <a:ext cx="9113763" cy="61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>
              <a:buClr>
                <a:schemeClr val="dk1"/>
              </a:buClr>
              <a:buSzPts val="2700"/>
            </a:pPr>
            <a:r>
              <a:rPr lang="en-US" sz="3200" b="1" i="1" dirty="0">
                <a:solidFill>
                  <a:srgbClr val="00B050"/>
                </a:solidFill>
                <a:latin typeface="Agency FB" panose="020B0503020202020204" pitchFamily="34" charset="0"/>
                <a:ea typeface="Bookman Old Style"/>
                <a:cs typeface="Times New Roman" panose="02020603050405020304" pitchFamily="18" charset="0"/>
                <a:sym typeface="Bookman Old Style"/>
              </a:rPr>
              <a:t>Student Performance Early Warning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209E94-1344-4F5B-9425-9ED244E66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402873"/>
              </p:ext>
            </p:extLst>
          </p:nvPr>
        </p:nvGraphicFramePr>
        <p:xfrm>
          <a:off x="139880" y="2831333"/>
          <a:ext cx="9007632" cy="21336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13057">
                  <a:extLst>
                    <a:ext uri="{9D8B030D-6E8A-4147-A177-3AD203B41FA5}">
                      <a16:colId xmlns:a16="http://schemas.microsoft.com/office/drawing/2014/main" val="305806269"/>
                    </a:ext>
                  </a:extLst>
                </a:gridCol>
                <a:gridCol w="4437163">
                  <a:extLst>
                    <a:ext uri="{9D8B030D-6E8A-4147-A177-3AD203B41FA5}">
                      <a16:colId xmlns:a16="http://schemas.microsoft.com/office/drawing/2014/main" val="767206640"/>
                    </a:ext>
                  </a:extLst>
                </a:gridCol>
                <a:gridCol w="3257412">
                  <a:extLst>
                    <a:ext uri="{9D8B030D-6E8A-4147-A177-3AD203B41FA5}">
                      <a16:colId xmlns:a16="http://schemas.microsoft.com/office/drawing/2014/main" val="2703451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IEN No.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749058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Tejashree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Chendge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12316003 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989899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Shubham Gharat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12346006 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423776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Shoaib Khan</a:t>
                      </a:r>
                    </a:p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Yash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Navelkar</a:t>
                      </a: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12316001</a:t>
                      </a:r>
                    </a:p>
                    <a:p>
                      <a:pPr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12316011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878480"/>
                  </a:ext>
                </a:extLst>
              </a:tr>
            </a:tbl>
          </a:graphicData>
        </a:graphic>
      </p:graphicFrame>
      <p:sp>
        <p:nvSpPr>
          <p:cNvPr id="7" name="Google Shape;84;p1">
            <a:extLst>
              <a:ext uri="{FF2B5EF4-FFF2-40B4-BE49-F238E27FC236}">
                <a16:creationId xmlns:a16="http://schemas.microsoft.com/office/drawing/2014/main" id="{D8734DEC-AC2D-48C9-AA9B-C359ADE18016}"/>
              </a:ext>
            </a:extLst>
          </p:cNvPr>
          <p:cNvSpPr/>
          <p:nvPr/>
        </p:nvSpPr>
        <p:spPr>
          <a:xfrm>
            <a:off x="959452" y="2386921"/>
            <a:ext cx="7606605" cy="44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By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FF03C-4CC4-40B4-96FF-66B59757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9439" y="6362014"/>
            <a:ext cx="5135216" cy="422136"/>
          </a:xfr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1317159" y="213020"/>
            <a:ext cx="7151927" cy="76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3600" b="1" i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Outline</a:t>
            </a:r>
            <a:endParaRPr sz="3600" b="1" i="1" dirty="0">
              <a:solidFill>
                <a:srgbClr val="0070C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E73C8-6C73-4534-82FA-B4C9E233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D23B-7C11-4F55-BA6F-EC46B7B73480}" type="datetime4">
              <a:rPr lang="en-US" smtClean="0"/>
              <a:t>April 2, 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744B5-6F15-4A2A-8C35-5620AB2B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(“Project Title”)</a:t>
            </a: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C6B7514-396B-C0E5-D596-EB2D38AF1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08" y="-4201140"/>
            <a:ext cx="6724275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prediction of student performance using ML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 | Teacher | Parent (role-based access)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Marks, attendance, assignments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 / Random Forest for score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warning for weak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performance tracking (graphs &amp; trends)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React, Node.js/Python, Scikit-learn,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Improves results through timely intervention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/>
        </p:nvSpPr>
        <p:spPr>
          <a:xfrm>
            <a:off x="1513113" y="270533"/>
            <a:ext cx="7347857" cy="86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  <a:defRPr sz="3600" b="1" i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1pPr>
          </a:lstStyle>
          <a:p>
            <a:pPr algn="ctr"/>
            <a:r>
              <a:rPr lang="en-US" dirty="0">
                <a:solidFill>
                  <a:srgbClr val="0070C0"/>
                </a:solidFill>
                <a:sym typeface="Bookman Old Style"/>
              </a:rPr>
              <a:t>Workflow</a:t>
            </a:r>
            <a:endParaRPr dirty="0">
              <a:solidFill>
                <a:srgbClr val="0070C0"/>
              </a:solidFill>
              <a:sym typeface="Bookman Old Style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26DDC-48FC-402D-8271-D563CCC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AE7D4-1D85-4CF9-80C0-D9D7E04CE4E9}" type="datetime4">
              <a:rPr lang="en-US" smtClean="0"/>
              <a:t>April 2,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2E980-A624-4CAF-9CB4-ED618253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(“Project Title”)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7FD0E-9DD0-FFB8-60C4-7A3939F4F189}"/>
              </a:ext>
            </a:extLst>
          </p:cNvPr>
          <p:cNvSpPr txBox="1"/>
          <p:nvPr/>
        </p:nvSpPr>
        <p:spPr>
          <a:xfrm>
            <a:off x="2286000" y="1468796"/>
            <a:ext cx="4572000" cy="360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Step 1:</a:t>
            </a: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 Data Collection</a:t>
            </a:r>
            <a:b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(Marks, attendance, assignments)</a:t>
            </a:r>
          </a:p>
          <a:p>
            <a:pPr algn="l">
              <a:spcAft>
                <a:spcPts val="263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Step 2:</a:t>
            </a: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 Data Preprocessing</a:t>
            </a:r>
            <a:b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(Cleaning, normalization, handling missing data)</a:t>
            </a:r>
          </a:p>
          <a:p>
            <a:pPr algn="l">
              <a:spcAft>
                <a:spcPts val="263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Step 3:</a:t>
            </a: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 ML Model Training</a:t>
            </a:r>
            <a:b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(Train using historical student data)</a:t>
            </a:r>
          </a:p>
          <a:p>
            <a:pPr algn="l">
              <a:spcAft>
                <a:spcPts val="263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Step 4:</a:t>
            </a: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 Prediction Generation</a:t>
            </a:r>
            <a:b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(Predict future marks / performance)</a:t>
            </a:r>
          </a:p>
          <a:p>
            <a:pPr algn="l">
              <a:spcAft>
                <a:spcPts val="263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Step 5:</a:t>
            </a: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 Dashboard Display</a:t>
            </a:r>
            <a:b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(Show results to Student, Teacher, Parent)</a:t>
            </a:r>
          </a:p>
          <a:p>
            <a:pPr algn="l">
              <a:spcAft>
                <a:spcPts val="263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Step 6:</a:t>
            </a:r>
            <a:r>
              <a:rPr lang="en-US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 Early Intervention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8F4C4AE-BF52-F664-287F-F54F5604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64" y="-4893637"/>
            <a:ext cx="7347857" cy="978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(Marks, attendance, assignments)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Preprocessing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(Cleaning, normalization, handling missing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 Model Training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(Train using historical student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(Predict future marks / performance)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Display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(Show results to Student, Teacher, Parent)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Intervention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/>
        </p:nvSpPr>
        <p:spPr>
          <a:xfrm>
            <a:off x="1513113" y="270533"/>
            <a:ext cx="7347857" cy="86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  <a:defRPr sz="3600" b="1" i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1pPr>
          </a:lstStyle>
          <a:p>
            <a:pPr algn="ctr"/>
            <a:r>
              <a:rPr lang="en-US" dirty="0">
                <a:solidFill>
                  <a:srgbClr val="0070C0"/>
                </a:solidFill>
                <a:sym typeface="Bookman Old Style"/>
              </a:rPr>
              <a:t>Implementation Plan</a:t>
            </a:r>
            <a:endParaRPr dirty="0">
              <a:solidFill>
                <a:srgbClr val="0070C0"/>
              </a:solidFill>
              <a:sym typeface="Bookman Old Style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26DDC-48FC-402D-8271-D563CCC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AE7D4-1D85-4CF9-80C0-D9D7E04CE4E9}" type="datetime4">
              <a:rPr lang="en-US" smtClean="0"/>
              <a:t>April 2,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2E980-A624-4CAF-9CB4-ED618253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(“Project Title”)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355E84-49D4-96C3-C6DD-28D036366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09" y="-5971826"/>
            <a:ext cx="6447021" cy="1200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1: Requirement Analysis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users, features, and data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2: System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architecture, database, and UI flow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3: Data Collection &amp; Preparation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Gather student data and preprocess 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4: ML Model Development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test prediction model (Regression/Random Forest)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5: Backend Development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 for data handling and model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6: Frontend Development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dashboard for Student/Teacher/Parent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7: Integration &amp;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all modules and test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8: Deployment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application and make it live </a:t>
            </a:r>
          </a:p>
        </p:txBody>
      </p:sp>
    </p:spTree>
    <p:extLst>
      <p:ext uri="{BB962C8B-B14F-4D97-AF65-F5344CB8AC3E}">
        <p14:creationId xmlns:p14="http://schemas.microsoft.com/office/powerpoint/2010/main" val="116494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/>
        </p:nvSpPr>
        <p:spPr>
          <a:xfrm>
            <a:off x="1513113" y="270533"/>
            <a:ext cx="7347857" cy="86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  <a:defRPr sz="3600" b="1" i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1pPr>
          </a:lstStyle>
          <a:p>
            <a:pPr algn="ctr"/>
            <a:r>
              <a:rPr lang="en-US" dirty="0">
                <a:solidFill>
                  <a:srgbClr val="0070C0"/>
                </a:solidFill>
                <a:sym typeface="Bookman Old Style"/>
              </a:rPr>
              <a:t>Implementation </a:t>
            </a:r>
            <a:endParaRPr dirty="0">
              <a:solidFill>
                <a:srgbClr val="0070C0"/>
              </a:solidFill>
              <a:sym typeface="Bookman Old Style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26DDC-48FC-402D-8271-D563CCC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AE7D4-1D85-4CF9-80C0-D9D7E04CE4E9}" type="datetime4">
              <a:rPr lang="en-US" smtClean="0"/>
              <a:t>April 2,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2E980-A624-4CAF-9CB4-ED618253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(“Project Title”)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56448-BA25-7240-28DC-3A0F21223665}"/>
              </a:ext>
            </a:extLst>
          </p:cNvPr>
          <p:cNvSpPr txBox="1"/>
          <p:nvPr/>
        </p:nvSpPr>
        <p:spPr>
          <a:xfrm>
            <a:off x="529936" y="1655712"/>
            <a:ext cx="665018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 Development</a:t>
            </a:r>
            <a:br>
              <a:rPr lang="en-IN" dirty="0"/>
            </a:br>
            <a:r>
              <a:rPr lang="en-IN" dirty="0"/>
              <a:t>Built responsive dashboard using React (role-based UI)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 Development</a:t>
            </a:r>
            <a:br>
              <a:rPr lang="en-IN" dirty="0"/>
            </a:br>
            <a:r>
              <a:rPr lang="en-IN" dirty="0"/>
              <a:t>Developed APIs using Node.js / Python for data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Database Management</a:t>
            </a:r>
            <a:br>
              <a:rPr lang="en-IN" dirty="0"/>
            </a:br>
            <a:r>
              <a:rPr lang="en-IN" dirty="0"/>
              <a:t>Stored student data (marks, attendance, etc.) in MySQL/Firebase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ML Model Integration</a:t>
            </a:r>
            <a:br>
              <a:rPr lang="en-IN" dirty="0"/>
            </a:br>
            <a:r>
              <a:rPr lang="en-IN" dirty="0"/>
              <a:t>Trained model (Regression/Random Forest) using Scikit-learn</a:t>
            </a:r>
            <a:br>
              <a:rPr lang="en-IN" dirty="0"/>
            </a:br>
            <a:r>
              <a:rPr lang="en-IN" dirty="0"/>
              <a:t>Integrated model with backend for real-time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Authentication System</a:t>
            </a:r>
            <a:br>
              <a:rPr lang="en-IN" dirty="0"/>
            </a:br>
            <a:r>
              <a:rPr lang="en-IN" dirty="0"/>
              <a:t>Implemented secure login for Student, Teacher, Parent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Visualization</a:t>
            </a:r>
            <a:br>
              <a:rPr lang="en-IN" dirty="0"/>
            </a:br>
            <a:r>
              <a:rPr lang="en-IN" dirty="0"/>
              <a:t>Displayed performance trends using charts/graphs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Testing &amp; Deployment</a:t>
            </a:r>
            <a:br>
              <a:rPr lang="en-IN" dirty="0"/>
            </a:br>
            <a:r>
              <a:rPr lang="en-IN" dirty="0"/>
              <a:t>Tested modules and deployed on cloud/local server </a:t>
            </a:r>
          </a:p>
        </p:txBody>
      </p:sp>
    </p:spTree>
    <p:extLst>
      <p:ext uri="{BB962C8B-B14F-4D97-AF65-F5344CB8AC3E}">
        <p14:creationId xmlns:p14="http://schemas.microsoft.com/office/powerpoint/2010/main" val="142532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/>
        </p:nvSpPr>
        <p:spPr>
          <a:xfrm>
            <a:off x="1513113" y="270533"/>
            <a:ext cx="7347857" cy="86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  <a:defRPr sz="3600" b="1" i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defRPr>
            </a:lvl1pPr>
          </a:lstStyle>
          <a:p>
            <a:pPr algn="ctr"/>
            <a:r>
              <a:rPr lang="en-US" dirty="0">
                <a:solidFill>
                  <a:srgbClr val="0070C0"/>
                </a:solidFill>
                <a:sym typeface="Bookman Old Style"/>
              </a:rPr>
              <a:t>Conclusion</a:t>
            </a:r>
            <a:endParaRPr dirty="0">
              <a:solidFill>
                <a:srgbClr val="0070C0"/>
              </a:solidFill>
              <a:sym typeface="Bookman Old Style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26DDC-48FC-402D-8271-D563CCC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AE7D4-1D85-4CF9-80C0-D9D7E04CE4E9}" type="datetime4">
              <a:rPr lang="en-US" smtClean="0"/>
              <a:t>April 2,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2E980-A624-4CAF-9CB4-ED618253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(“Project Title”)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F02D7F-9A65-1AC2-4CDA-3EDC99C9A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47144"/>
            <a:ext cx="9074920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ML-based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students, teachers, and parents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prediction of student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historical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 intervention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weak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 and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stakeholders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adaptable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educational 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enhanced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AI and mobile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784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b34e739c7_0_31"/>
          <p:cNvSpPr txBox="1">
            <a:spLocks noGrp="1"/>
          </p:cNvSpPr>
          <p:nvPr>
            <p:ph type="ctrTitle"/>
          </p:nvPr>
        </p:nvSpPr>
        <p:spPr>
          <a:xfrm>
            <a:off x="685800" y="2691835"/>
            <a:ext cx="7772400" cy="1102519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7200" b="1" i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YOU!</a:t>
            </a:r>
            <a:endParaRPr sz="7200" b="1" i="1" dirty="0">
              <a:solidFill>
                <a:srgbClr val="0070C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1766E-D838-4D90-8518-BADC5A3A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6811-A481-4F3A-811A-F38972612DC1}" type="datetime4">
              <a:rPr lang="en-US" smtClean="0"/>
              <a:t>April 2, 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C5766-A598-4F46-A5B6-38ED30EB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(“Project Title”)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IN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ICINC</Template>
  <TotalTime>191</TotalTime>
  <Words>590</Words>
  <Application>Microsoft Office PowerPoint</Application>
  <PresentationFormat>On-screen Show (4:3)</PresentationFormat>
  <Paragraphs>173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Agency FB</vt:lpstr>
      <vt:lpstr>Arial</vt:lpstr>
      <vt:lpstr>Bookman Old Style</vt:lpstr>
      <vt:lpstr>Calibri</vt:lpstr>
      <vt:lpstr>Segoe UI Variable Text</vt:lpstr>
      <vt:lpstr>Times New Roman</vt:lpstr>
      <vt:lpstr>ICINC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smart</dc:creator>
  <cp:lastModifiedBy>Shubham Gharat</cp:lastModifiedBy>
  <cp:revision>11</cp:revision>
  <dcterms:modified xsi:type="dcterms:W3CDTF">2026-04-02T06:44:58Z</dcterms:modified>
</cp:coreProperties>
</file>